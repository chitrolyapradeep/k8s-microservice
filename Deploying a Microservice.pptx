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01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18-Aug-26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516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18-Aug-26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9326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18-Aug-26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0866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18-Aug-26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8370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18-Aug-26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7993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18-Aug-26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796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18-Aug-26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667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18-Aug-26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895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18-Aug-26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777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18-Aug-26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087539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18-Aug-26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438802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18-Aug-26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814960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18-Aug-26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798916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18-Aug-26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416132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18-Aug-26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582809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18-Aug-26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6579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18-Aug-26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2563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18-Aug-26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36008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02" r:id="rId1"/>
    <p:sldLayoutId id="2147483903" r:id="rId2"/>
    <p:sldLayoutId id="2147483904" r:id="rId3"/>
    <p:sldLayoutId id="2147483905" r:id="rId4"/>
    <p:sldLayoutId id="2147483906" r:id="rId5"/>
    <p:sldLayoutId id="2147483907" r:id="rId6"/>
    <p:sldLayoutId id="2147483908" r:id="rId7"/>
    <p:sldLayoutId id="2147483909" r:id="rId8"/>
    <p:sldLayoutId id="2147483910" r:id="rId9"/>
    <p:sldLayoutId id="2147483911" r:id="rId10"/>
    <p:sldLayoutId id="2147483912" r:id="rId11"/>
    <p:sldLayoutId id="2147483913" r:id="rId12"/>
    <p:sldLayoutId id="2147483914" r:id="rId13"/>
    <p:sldLayoutId id="2147483915" r:id="rId14"/>
    <p:sldLayoutId id="2147483916" r:id="rId15"/>
    <p:sldLayoutId id="2147483917" r:id="rId16"/>
    <p:sldLayoutId id="2147483918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77503" y="1928568"/>
            <a:ext cx="8825658" cy="1879862"/>
          </a:xfrm>
        </p:spPr>
        <p:txBody>
          <a:bodyPr/>
          <a:lstStyle/>
          <a:p>
            <a:r>
              <a:rPr lang="en-US" sz="5400" dirty="0"/>
              <a:t>Deploying a </a:t>
            </a:r>
            <a:r>
              <a:rPr lang="en-US" sz="5400" dirty="0" smtClean="0"/>
              <a:t>Micro service</a:t>
            </a:r>
            <a:r>
              <a:rPr lang="en-US" sz="5400" dirty="0"/>
              <a:t/>
            </a:r>
            <a:br>
              <a:rPr lang="en-US" sz="5400" dirty="0"/>
            </a:br>
            <a:r>
              <a:rPr lang="en-US" sz="5400" dirty="0"/>
              <a:t>in Kubernetes</a:t>
            </a:r>
            <a:endParaRPr lang="en-IN" sz="5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SR. </a:t>
            </a:r>
            <a:r>
              <a:rPr lang="en-US" dirty="0" err="1" smtClean="0"/>
              <a:t>DEvoPs</a:t>
            </a:r>
            <a:r>
              <a:rPr lang="en-US" dirty="0" smtClean="0"/>
              <a:t> </a:t>
            </a:r>
            <a:r>
              <a:rPr lang="en-US" dirty="0" smtClean="0"/>
              <a:t>engineer </a:t>
            </a:r>
          </a:p>
          <a:p>
            <a:r>
              <a:rPr lang="en-US" dirty="0" smtClean="0"/>
              <a:t>Pradeep </a:t>
            </a:r>
            <a:r>
              <a:rPr lang="en-US" dirty="0" smtClean="0"/>
              <a:t>Kumar chitroliya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7680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15011"/>
            <a:ext cx="9404723" cy="735059"/>
          </a:xfrm>
        </p:spPr>
        <p:txBody>
          <a:bodyPr/>
          <a:lstStyle/>
          <a:p>
            <a:r>
              <a:rPr lang="en-IN" dirty="0">
                <a:solidFill>
                  <a:srgbClr val="FFC000"/>
                </a:solidFill>
              </a:rPr>
              <a:t>Session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90625"/>
            <a:ext cx="8946541" cy="4195481"/>
          </a:xfrm>
        </p:spPr>
        <p:txBody>
          <a:bodyPr>
            <a:normAutofit/>
          </a:bodyPr>
          <a:lstStyle/>
          <a:p>
            <a:r>
              <a:rPr lang="en-US" sz="3200" dirty="0"/>
              <a:t>Introduction &amp; Real-World </a:t>
            </a:r>
            <a:r>
              <a:rPr lang="en-US" sz="3200" dirty="0" smtClean="0"/>
              <a:t>Relevance</a:t>
            </a:r>
          </a:p>
          <a:p>
            <a:r>
              <a:rPr lang="en-US" sz="3200" dirty="0"/>
              <a:t>Prerequisites &amp; Core </a:t>
            </a:r>
            <a:r>
              <a:rPr lang="en-US" sz="3200" dirty="0" smtClean="0"/>
              <a:t>Concepts</a:t>
            </a:r>
          </a:p>
          <a:p>
            <a:r>
              <a:rPr lang="en-US" sz="3200" dirty="0"/>
              <a:t>Architecture &amp; </a:t>
            </a:r>
            <a:r>
              <a:rPr lang="en-US" sz="3200" dirty="0" smtClean="0"/>
              <a:t>Workflow</a:t>
            </a:r>
          </a:p>
          <a:p>
            <a:r>
              <a:rPr lang="en-US" sz="3200" dirty="0"/>
              <a:t>Hands-On </a:t>
            </a:r>
            <a:r>
              <a:rPr lang="en-US" sz="3200" dirty="0" smtClean="0"/>
              <a:t>Demo</a:t>
            </a:r>
          </a:p>
          <a:p>
            <a:r>
              <a:rPr lang="en-US" sz="3200" dirty="0"/>
              <a:t>Production </a:t>
            </a:r>
            <a:r>
              <a:rPr lang="en-US" sz="3200" dirty="0" smtClean="0"/>
              <a:t>Considerations</a:t>
            </a:r>
          </a:p>
          <a:p>
            <a:r>
              <a:rPr lang="en-US" sz="3200" dirty="0"/>
              <a:t>Summary &amp; Q&amp;A</a:t>
            </a:r>
            <a:endParaRPr 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2916602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7"/>
            <a:ext cx="10298409" cy="1291241"/>
          </a:xfrm>
        </p:spPr>
        <p:txBody>
          <a:bodyPr>
            <a:normAutofit fontScale="90000"/>
          </a:bodyPr>
          <a:lstStyle/>
          <a:p>
            <a:r>
              <a:rPr lang="en-US" dirty="0"/>
              <a:t>1. </a:t>
            </a:r>
            <a:r>
              <a:rPr lang="en-US" dirty="0">
                <a:solidFill>
                  <a:srgbClr val="FFC000"/>
                </a:solidFill>
              </a:rPr>
              <a:t>Introduction — The Problem We're Solving</a:t>
            </a:r>
            <a:endParaRPr lang="en-IN" dirty="0">
              <a:solidFill>
                <a:srgbClr val="FFC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8296" y="2090625"/>
            <a:ext cx="11678478" cy="4195481"/>
          </a:xfrm>
        </p:spPr>
        <p:txBody>
          <a:bodyPr>
            <a:normAutofit fontScale="77500" lnSpcReduction="20000"/>
          </a:bodyPr>
          <a:lstStyle/>
          <a:p>
            <a:endParaRPr lang="en-US" dirty="0" smtClean="0">
              <a:solidFill>
                <a:srgbClr val="FFC000"/>
              </a:solidFill>
            </a:endParaRPr>
          </a:p>
          <a:p>
            <a:r>
              <a:rPr lang="en-US" sz="2300" u="sng" dirty="0" smtClean="0">
                <a:solidFill>
                  <a:srgbClr val="FFC000"/>
                </a:solidFill>
              </a:rPr>
              <a:t>MicroService: </a:t>
            </a:r>
            <a:r>
              <a:rPr lang="en-US" dirty="0" smtClean="0"/>
              <a:t>Micro services </a:t>
            </a:r>
            <a:r>
              <a:rPr lang="en-US" dirty="0"/>
              <a:t>is an architectural approach in which a large application is divided into multiple small, independent, and loosely coupled services. Each service is responsible for a specific business functionality, can be developed and deployed independently, and communicates with other services through well-defined APIs such as REST, </a:t>
            </a:r>
            <a:r>
              <a:rPr lang="en-US" dirty="0" err="1"/>
              <a:t>gRPC</a:t>
            </a:r>
            <a:r>
              <a:rPr lang="en-US" dirty="0"/>
              <a:t>, or messaging</a:t>
            </a:r>
            <a:r>
              <a:rPr lang="en-US" sz="1700" dirty="0"/>
              <a:t>.</a:t>
            </a:r>
            <a:endParaRPr lang="en-US" sz="1700" dirty="0" smtClean="0">
              <a:solidFill>
                <a:srgbClr val="FFC000"/>
              </a:solidFill>
            </a:endParaRPr>
          </a:p>
          <a:p>
            <a:r>
              <a:rPr lang="en-US" dirty="0" smtClean="0">
                <a:solidFill>
                  <a:srgbClr val="FFC000"/>
                </a:solidFill>
              </a:rPr>
              <a:t>1.1 </a:t>
            </a:r>
            <a:r>
              <a:rPr lang="en-US" dirty="0">
                <a:solidFill>
                  <a:srgbClr val="FFC000"/>
                </a:solidFill>
              </a:rPr>
              <a:t>The Pain Point (Before Kubernetes</a:t>
            </a:r>
            <a:r>
              <a:rPr lang="en-US" dirty="0" smtClean="0">
                <a:solidFill>
                  <a:srgbClr val="FFC000"/>
                </a:solidFill>
              </a:rPr>
              <a:t>)</a:t>
            </a:r>
          </a:p>
          <a:p>
            <a:pPr marL="0" indent="0">
              <a:buNone/>
            </a:pPr>
            <a:r>
              <a:rPr lang="en-US" dirty="0"/>
              <a:t>Imagine a team ships a </a:t>
            </a:r>
            <a:r>
              <a:rPr lang="en-US" dirty="0" smtClean="0"/>
              <a:t>micro service. </a:t>
            </a:r>
            <a:r>
              <a:rPr lang="en-US" dirty="0"/>
              <a:t>It runs fine on the developer's laptop. In production it needs to run on multiple servers, restart itself if </a:t>
            </a:r>
            <a:r>
              <a:rPr lang="en-US" dirty="0" smtClean="0"/>
              <a:t>it crashes</a:t>
            </a:r>
            <a:r>
              <a:rPr lang="en-US" dirty="0"/>
              <a:t>, scale up during traffic spikes, roll out updates without downtime, and be discoverable by other services. Doing all of this manually with </a:t>
            </a:r>
            <a:r>
              <a:rPr lang="en-US" dirty="0" smtClean="0"/>
              <a:t>shell scripts </a:t>
            </a:r>
            <a:r>
              <a:rPr lang="en-US" dirty="0"/>
              <a:t>and </a:t>
            </a:r>
            <a:r>
              <a:rPr lang="en-US" dirty="0" err="1"/>
              <a:t>cron</a:t>
            </a:r>
            <a:r>
              <a:rPr lang="en-US" dirty="0"/>
              <a:t> jobs does not scale past a handful of services.</a:t>
            </a:r>
          </a:p>
          <a:p>
            <a:r>
              <a:rPr lang="en-US" dirty="0">
                <a:solidFill>
                  <a:srgbClr val="FFC000"/>
                </a:solidFill>
              </a:rPr>
              <a:t>1.2 What Kubernetes Actually </a:t>
            </a:r>
            <a:r>
              <a:rPr lang="en-US" dirty="0" smtClean="0">
                <a:solidFill>
                  <a:srgbClr val="FFC000"/>
                </a:solidFill>
              </a:rPr>
              <a:t>Does</a:t>
            </a:r>
          </a:p>
          <a:p>
            <a:pPr marL="0" indent="0">
              <a:buNone/>
            </a:pPr>
            <a:r>
              <a:rPr lang="en-US" dirty="0"/>
              <a:t>Kubernetes (K8s) is a container orchestration platform. Given a container image and a description of the desired state ("I want 3 replicas of this</a:t>
            </a:r>
          </a:p>
          <a:p>
            <a:pPr marL="0" indent="0">
              <a:buNone/>
            </a:pPr>
            <a:r>
              <a:rPr lang="en-US" dirty="0"/>
              <a:t>service, always healthy, reachable on port 80"), Kubernetes continuously works to make the actual state match that desired state. This is the single</a:t>
            </a:r>
          </a:p>
          <a:p>
            <a:pPr marL="0" indent="0">
              <a:buNone/>
            </a:pPr>
            <a:r>
              <a:rPr lang="en-US" dirty="0"/>
              <a:t>most important mental model for the entire session: Kubernetes is a reconciliation loop, not a task runner.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9181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1.2 </a:t>
            </a:r>
            <a:r>
              <a:rPr lang="en-US" dirty="0">
                <a:solidFill>
                  <a:srgbClr val="FFC000"/>
                </a:solidFill>
              </a:rPr>
              <a:t>Where This Fits in the DevOps Lifecycle</a:t>
            </a:r>
            <a:endParaRPr lang="en-IN" dirty="0">
              <a:solidFill>
                <a:srgbClr val="FFC00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976" y="2160588"/>
            <a:ext cx="9879290" cy="3618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93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2.1 </a:t>
            </a:r>
            <a:r>
              <a:rPr lang="en-IN" dirty="0">
                <a:solidFill>
                  <a:srgbClr val="FFC000"/>
                </a:solidFill>
              </a:rPr>
              <a:t>Prerequisites &amp; Core Concepts (From Basics)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979630"/>
            <a:ext cx="10049853" cy="120663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2.1 What Learners Should Already </a:t>
            </a:r>
            <a:r>
              <a:rPr lang="en-US" dirty="0" smtClean="0"/>
              <a:t>Know</a:t>
            </a:r>
          </a:p>
          <a:p>
            <a:pPr marL="0" indent="0">
              <a:buNone/>
            </a:pPr>
            <a:r>
              <a:rPr lang="en-US" dirty="0" smtClean="0"/>
              <a:t>A </a:t>
            </a:r>
            <a:r>
              <a:rPr lang="en-US" dirty="0"/>
              <a:t>container image is a portable, immutable package containing your application code, its runtime, and all dependencies. A container is a </a:t>
            </a:r>
            <a:r>
              <a:rPr lang="en-US" dirty="0" smtClean="0"/>
              <a:t>running instance </a:t>
            </a:r>
            <a:r>
              <a:rPr lang="en-US" dirty="0"/>
              <a:t>of that image. Kubernetes never touches your source code — it only ever schedules and runs images</a:t>
            </a:r>
            <a:endParaRPr lang="en-US" dirty="0" smtClean="0"/>
          </a:p>
          <a:p>
            <a:endParaRPr lang="en-US" dirty="0" smtClean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6485312"/>
              </p:ext>
            </p:extLst>
          </p:nvPr>
        </p:nvGraphicFramePr>
        <p:xfrm>
          <a:off x="-2" y="3312639"/>
          <a:ext cx="12192002" cy="326909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096001">
                  <a:extLst>
                    <a:ext uri="{9D8B030D-6E8A-4147-A177-3AD203B41FA5}">
                      <a16:colId xmlns:a16="http://schemas.microsoft.com/office/drawing/2014/main" val="2531758166"/>
                    </a:ext>
                  </a:extLst>
                </a:gridCol>
                <a:gridCol w="6096001">
                  <a:extLst>
                    <a:ext uri="{9D8B030D-6E8A-4147-A177-3AD203B41FA5}">
                      <a16:colId xmlns:a16="http://schemas.microsoft.com/office/drawing/2014/main" val="3110944072"/>
                    </a:ext>
                  </a:extLst>
                </a:gridCol>
              </a:tblGrid>
              <a:tr h="47800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IN" dirty="0" smtClean="0"/>
                        <a:t>Prerequisite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IN" dirty="0" smtClean="0"/>
                        <a:t>Why it matters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3138721"/>
                  </a:ext>
                </a:extLst>
              </a:tr>
              <a:tr h="47800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IN" dirty="0" smtClean="0"/>
                        <a:t>Basic Linux shell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US" dirty="0" smtClean="0"/>
                        <a:t>Every command we run is from a terminal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6678453"/>
                  </a:ext>
                </a:extLst>
              </a:tr>
              <a:tr h="478002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IN" dirty="0" smtClean="0"/>
                        <a:t>Docker fundamentals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US" dirty="0" smtClean="0"/>
                        <a:t>Kubernetes runs containers — it does not build them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2864957"/>
                  </a:ext>
                </a:extLst>
              </a:tr>
              <a:tr h="836504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IN" dirty="0" smtClean="0"/>
                        <a:t>Basic YAML syntax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US" dirty="0" smtClean="0"/>
                        <a:t>Every Kubernetes object is described declaratively in YAML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5703066"/>
                  </a:ext>
                </a:extLst>
              </a:tr>
              <a:tr h="836504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IN" dirty="0" smtClean="0"/>
                        <a:t>Client-server / REST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IN" dirty="0" smtClean="0"/>
                        <a:t>basics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US" dirty="0" smtClean="0"/>
                        <a:t>Our demo micro service exposes an HTTP API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0789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2200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</a:t>
            </a:r>
            <a:r>
              <a:rPr lang="en-IN" dirty="0" smtClean="0"/>
              <a:t> Kubernetes </a:t>
            </a:r>
            <a:r>
              <a:rPr lang="en-IN" dirty="0"/>
              <a:t>Cluster Architecture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2681" y="1372457"/>
            <a:ext cx="7503735" cy="4147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338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929" y="113353"/>
            <a:ext cx="9404723" cy="735059"/>
          </a:xfrm>
        </p:spPr>
        <p:txBody>
          <a:bodyPr/>
          <a:lstStyle/>
          <a:p>
            <a:r>
              <a:rPr lang="en-US" dirty="0" smtClean="0">
                <a:solidFill>
                  <a:srgbClr val="FFC000"/>
                </a:solidFill>
              </a:rPr>
              <a:t>2.2 </a:t>
            </a:r>
            <a:r>
              <a:rPr lang="en-US" dirty="0">
                <a:solidFill>
                  <a:srgbClr val="FFC000"/>
                </a:solidFill>
              </a:rPr>
              <a:t>Core Kubernetes Building Blocks</a:t>
            </a:r>
            <a:endParaRPr lang="en-IN" dirty="0">
              <a:solidFill>
                <a:srgbClr val="FFC000"/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5871994"/>
              </p:ext>
            </p:extLst>
          </p:nvPr>
        </p:nvGraphicFramePr>
        <p:xfrm>
          <a:off x="89928" y="1097279"/>
          <a:ext cx="12014088" cy="55863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4696">
                  <a:extLst>
                    <a:ext uri="{9D8B030D-6E8A-4147-A177-3AD203B41FA5}">
                      <a16:colId xmlns:a16="http://schemas.microsoft.com/office/drawing/2014/main" val="2054469131"/>
                    </a:ext>
                  </a:extLst>
                </a:gridCol>
                <a:gridCol w="4004696">
                  <a:extLst>
                    <a:ext uri="{9D8B030D-6E8A-4147-A177-3AD203B41FA5}">
                      <a16:colId xmlns:a16="http://schemas.microsoft.com/office/drawing/2014/main" val="2254826957"/>
                    </a:ext>
                  </a:extLst>
                </a:gridCol>
                <a:gridCol w="4004696">
                  <a:extLst>
                    <a:ext uri="{9D8B030D-6E8A-4147-A177-3AD203B41FA5}">
                      <a16:colId xmlns:a16="http://schemas.microsoft.com/office/drawing/2014/main" val="178183847"/>
                    </a:ext>
                  </a:extLst>
                </a:gridCol>
              </a:tblGrid>
              <a:tr h="441958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IN" dirty="0" smtClean="0"/>
                        <a:t>Object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Analogy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What it actually does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12270"/>
                  </a:ext>
                </a:extLst>
              </a:tr>
              <a:tr h="1238438">
                <a:tc>
                  <a:txBody>
                    <a:bodyPr/>
                    <a:lstStyle/>
                    <a:p>
                      <a:r>
                        <a:rPr lang="en-IN" dirty="0" smtClean="0"/>
                        <a:t>Pod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single "instance" of your app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Smallest deployable unit; wraps one or more tightly-coupled containers sharing network &amp; storage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810322"/>
                  </a:ext>
                </a:extLst>
              </a:tr>
              <a:tr h="1000318">
                <a:tc>
                  <a:txBody>
                    <a:bodyPr/>
                    <a:lstStyle/>
                    <a:p>
                      <a:r>
                        <a:rPr lang="en-IN" dirty="0" smtClean="0"/>
                        <a:t>Deployment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The manager/supervisor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Declares how many Pod replicas should exist and how to roll out updates; self-heals crashed Pods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1917792"/>
                  </a:ext>
                </a:extLst>
              </a:tr>
              <a:tr h="952646">
                <a:tc>
                  <a:txBody>
                    <a:bodyPr/>
                    <a:lstStyle/>
                    <a:p>
                      <a:r>
                        <a:rPr lang="en-IN" dirty="0" smtClean="0"/>
                        <a:t>Replica Set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The headcount enforcer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Created automatically by a Deployment; ensures exactly N Pods are always running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9874901"/>
                  </a:ext>
                </a:extLst>
              </a:tr>
              <a:tr h="1000318">
                <a:tc>
                  <a:txBody>
                    <a:bodyPr/>
                    <a:lstStyle/>
                    <a:p>
                      <a:r>
                        <a:rPr lang="en-IN" dirty="0" smtClean="0"/>
                        <a:t>Service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A stable phone number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Gives a fixed IP/DNS name that load-balances traffic across Pods, even as Pods are replaced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6583620"/>
                  </a:ext>
                </a:extLst>
              </a:tr>
              <a:tr h="952646">
                <a:tc>
                  <a:txBody>
                    <a:bodyPr/>
                    <a:lstStyle/>
                    <a:p>
                      <a:r>
                        <a:rPr lang="en-IN" dirty="0" smtClean="0"/>
                        <a:t>Namespace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A virtual folder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Logical isolation of resources (e.g. dev, staging, prod) within one cluster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53944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7378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3.2 Request &amp; Deployment Flow for Our </a:t>
            </a:r>
            <a:r>
              <a:rPr lang="en-US" dirty="0" smtClean="0">
                <a:solidFill>
                  <a:srgbClr val="FFC000"/>
                </a:solidFill>
              </a:rPr>
              <a:t>Micro service</a:t>
            </a:r>
            <a:endParaRPr lang="en-IN" dirty="0">
              <a:solidFill>
                <a:srgbClr val="FFC00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3313" y="2826064"/>
            <a:ext cx="8947150" cy="2648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213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C000"/>
                </a:solidFill>
              </a:rPr>
              <a:t>4. Hands-On 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Write the </a:t>
            </a:r>
            <a:r>
              <a:rPr lang="en-IN" dirty="0" smtClean="0"/>
              <a:t>Micro service</a:t>
            </a:r>
          </a:p>
          <a:p>
            <a:r>
              <a:rPr lang="en-IN" dirty="0"/>
              <a:t>Containerize </a:t>
            </a:r>
            <a:r>
              <a:rPr lang="en-IN" dirty="0" smtClean="0"/>
              <a:t>It</a:t>
            </a:r>
          </a:p>
          <a:p>
            <a:r>
              <a:rPr lang="en-IN" dirty="0" smtClean="0"/>
              <a:t>Push the image </a:t>
            </a:r>
            <a:r>
              <a:rPr lang="en-IN" dirty="0"/>
              <a:t>to a </a:t>
            </a:r>
            <a:r>
              <a:rPr lang="en-IN" dirty="0" smtClean="0"/>
              <a:t>Registry</a:t>
            </a:r>
          </a:p>
          <a:p>
            <a:r>
              <a:rPr lang="en-IN" dirty="0"/>
              <a:t>Start a Local </a:t>
            </a:r>
            <a:r>
              <a:rPr lang="en-IN" dirty="0" smtClean="0"/>
              <a:t>Cluster</a:t>
            </a:r>
          </a:p>
          <a:p>
            <a:r>
              <a:rPr lang="en-IN" dirty="0"/>
              <a:t>Write the Deployment </a:t>
            </a:r>
            <a:r>
              <a:rPr lang="en-IN" dirty="0" smtClean="0"/>
              <a:t>Manifest</a:t>
            </a:r>
          </a:p>
          <a:p>
            <a:r>
              <a:rPr lang="en-IN" dirty="0"/>
              <a:t>Write the Service </a:t>
            </a:r>
            <a:r>
              <a:rPr lang="en-IN" dirty="0" smtClean="0"/>
              <a:t>Manifest</a:t>
            </a:r>
          </a:p>
          <a:p>
            <a:r>
              <a:rPr lang="en-IN" dirty="0"/>
              <a:t>Apply &amp; Verify</a:t>
            </a:r>
            <a:endParaRPr lang="en-IN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6965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r>
              <a:rPr lang="en-US" sz="9600" dirty="0" smtClean="0"/>
              <a:t>    </a:t>
            </a:r>
            <a:r>
              <a:rPr lang="en-US" sz="9600" i="1" u="sng" dirty="0" smtClean="0">
                <a:solidFill>
                  <a:srgbClr val="FFC000"/>
                </a:solidFill>
              </a:rPr>
              <a:t>Thank  </a:t>
            </a:r>
          </a:p>
          <a:p>
            <a:pPr marL="0" indent="0">
              <a:buNone/>
            </a:pPr>
            <a:r>
              <a:rPr lang="en-US" sz="9600" i="1" u="sng" dirty="0">
                <a:solidFill>
                  <a:srgbClr val="FFC000"/>
                </a:solidFill>
              </a:rPr>
              <a:t> </a:t>
            </a:r>
            <a:r>
              <a:rPr lang="en-US" sz="9600" i="1" u="sng" dirty="0" smtClean="0">
                <a:solidFill>
                  <a:srgbClr val="FFC000"/>
                </a:solidFill>
              </a:rPr>
              <a:t>               You</a:t>
            </a:r>
            <a:r>
              <a:rPr lang="en-US" sz="9600" dirty="0" smtClean="0"/>
              <a:t> </a:t>
            </a:r>
            <a:endParaRPr lang="en-US" dirty="0"/>
          </a:p>
          <a:p>
            <a:endParaRPr lang="en-US" dirty="0" smtClean="0"/>
          </a:p>
          <a:p>
            <a:r>
              <a:rPr lang="en-US" dirty="0"/>
              <a:t> </a:t>
            </a:r>
            <a:r>
              <a:rPr lang="en-US" dirty="0" smtClean="0"/>
              <a:t>                   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1449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103</TotalTime>
  <Words>537</Words>
  <Application>Microsoft Office PowerPoint</Application>
  <PresentationFormat>Widescreen</PresentationFormat>
  <Paragraphs>70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Century Gothic</vt:lpstr>
      <vt:lpstr>Wingdings</vt:lpstr>
      <vt:lpstr>Wingdings 3</vt:lpstr>
      <vt:lpstr>Ion</vt:lpstr>
      <vt:lpstr>Deploying a Micro service in Kubernetes</vt:lpstr>
      <vt:lpstr>Session Agenda</vt:lpstr>
      <vt:lpstr>1. Introduction — The Problem We're Solving</vt:lpstr>
      <vt:lpstr>1.2 Where This Fits in the DevOps Lifecycle</vt:lpstr>
      <vt:lpstr>2.1 Prerequisites &amp; Core Concepts (From Basics)</vt:lpstr>
      <vt:lpstr>3 Kubernetes Cluster Architecture</vt:lpstr>
      <vt:lpstr>2.2 Core Kubernetes Building Blocks</vt:lpstr>
      <vt:lpstr>3.2 Request &amp; Deployment Flow for Our Micro service</vt:lpstr>
      <vt:lpstr>4. Hands-On Demonstration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Deploying a Microservice in Kubernetes</dc:title>
  <dc:creator>HP</dc:creator>
  <cp:lastModifiedBy>HP</cp:lastModifiedBy>
  <cp:revision>10</cp:revision>
  <dcterms:created xsi:type="dcterms:W3CDTF">2026-08-18T08:57:47Z</dcterms:created>
  <dcterms:modified xsi:type="dcterms:W3CDTF">2026-08-18T15:43:01Z</dcterms:modified>
  <cp:contentStatus/>
</cp:coreProperties>
</file>